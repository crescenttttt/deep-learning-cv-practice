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1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" cy="2103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OPENING REPORT  ·  2026 SPRING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深度学习在目标检测中的应用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国内外研究综述 与 YOLOv10 深度分析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617720"/>
            <a:ext cx="36576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4800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课程：基于深度学习的计算机视觉实践项目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 err="1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授课教师：汪曼青</a:t>
            </a:r>
            <a:endParaRPr sz="1200" b="0" dirty="0">
              <a:solidFill>
                <a:srgbClr val="6B7280"/>
              </a:solidFill>
              <a:latin typeface="Segoe UI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0" y="6035040"/>
            <a:ext cx="3840480" cy="17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dirty="0" err="1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成都信息工程大学</a:t>
            </a:r>
            <a:r>
              <a:rPr sz="1100" b="0" dirty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3093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2026.05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4572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目录 ·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本次开题汇报的四个核心部分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0487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dirty="0" err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选题背景与意义</a:t>
            </a:r>
            <a:endParaRPr sz="2200" b="1" dirty="0">
              <a:solidFill>
                <a:srgbClr val="0F172A"/>
              </a:solidFill>
              <a:latin typeface="Segoe UI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2880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Background &amp; Motivation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3227832"/>
            <a:ext cx="104241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2918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36499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国内外研究现状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840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4 篇 2023+ 代表性论文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4187952"/>
            <a:ext cx="104241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2519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32511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 深度分析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800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动机 · 框架 · 创新 · 实验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5148072"/>
            <a:ext cx="104241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52120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28523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技术路线与计划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7607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Approach &amp;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01 · 选题背景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选题背景与研究意义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为什么是目标检测？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什么是目标检测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468880"/>
            <a:ext cx="53949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606040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在图像中同时回答两个问题：</a:t>
            </a:r>
          </a:p>
          <a:p>
            <a:pPr algn="l">
              <a:lnSpc>
                <a:spcPct val="150000"/>
              </a:lnSpc>
            </a:pPr>
            <a:endParaRPr sz="1400" b="0">
              <a:solidFill>
                <a:srgbClr val="333D52"/>
              </a:solidFill>
              <a:latin typeface="Segoe UI"/>
              <a:ea typeface="微软雅黑"/>
              <a:cs typeface="微软雅黑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「在哪里」 —— 用边界框定位物体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「是什么」 —— 对边界框内物体分类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与相关 CV 任务的关系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26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整图 →  单一类别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103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103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图中多物体 →  框 + 类别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94376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分割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9437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每个像素 →  类别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代表性应用场景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2468880"/>
            <a:ext cx="53949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55080" y="2697480"/>
            <a:ext cx="16459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271576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自动驾驶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99008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实时识别车辆、行人、交通标志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410712"/>
            <a:ext cx="16459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34290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智慧安防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7033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人脸、异常行为、违禁物检测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123944"/>
            <a:ext cx="16459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0840" y="414223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医学影像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41655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辅助检出病灶、肺结节、息肉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4837176"/>
            <a:ext cx="16459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4855464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工业质检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129784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缺陷自动定位、装配缺漏检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01 · 选题背景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目标检测技术发展脉络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从两阶段到 Transformer，从闭集到开放词汇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206240"/>
            <a:ext cx="10698480" cy="0"/>
          </a:xfrm>
          <a:prstGeom prst="line">
            <a:avLst/>
          </a:prstGeom>
          <a:ln w="1524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7152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" y="3703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91440" y="44805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R-CNN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1440" y="5166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两阶段开端</a:t>
            </a:r>
          </a:p>
        </p:txBody>
      </p:sp>
      <p:sp>
        <p:nvSpPr>
          <p:cNvPr id="14" name="Oval 13"/>
          <p:cNvSpPr/>
          <p:nvPr/>
        </p:nvSpPr>
        <p:spPr>
          <a:xfrm>
            <a:off x="245460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74520" y="3703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4805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Fast R-CNN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66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单阶段诞生</a:t>
            </a:r>
          </a:p>
        </p:txBody>
      </p:sp>
      <p:sp>
        <p:nvSpPr>
          <p:cNvPr id="18" name="Oval 17"/>
          <p:cNvSpPr/>
          <p:nvPr/>
        </p:nvSpPr>
        <p:spPr>
          <a:xfrm>
            <a:off x="423768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3703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4805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Mask R-CNN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FPN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166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多尺度融合</a:t>
            </a:r>
          </a:p>
        </p:txBody>
      </p:sp>
      <p:sp>
        <p:nvSpPr>
          <p:cNvPr id="22" name="Oval 21"/>
          <p:cNvSpPr/>
          <p:nvPr/>
        </p:nvSpPr>
        <p:spPr>
          <a:xfrm>
            <a:off x="602076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40680" y="3703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4805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DETR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5166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Transformer 入局</a:t>
            </a:r>
          </a:p>
        </p:txBody>
      </p:sp>
      <p:sp>
        <p:nvSpPr>
          <p:cNvPr id="26" name="Oval 25"/>
          <p:cNvSpPr/>
          <p:nvPr/>
        </p:nvSpPr>
        <p:spPr>
          <a:xfrm>
            <a:off x="780384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3703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4805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166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CNN 极致优化</a:t>
            </a:r>
          </a:p>
        </p:txBody>
      </p:sp>
      <p:sp>
        <p:nvSpPr>
          <p:cNvPr id="30" name="Oval 29"/>
          <p:cNvSpPr/>
          <p:nvPr/>
        </p:nvSpPr>
        <p:spPr>
          <a:xfrm>
            <a:off x="958692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6840" y="3703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4805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RT-DETR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5166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实时 Transformer</a:t>
            </a:r>
          </a:p>
        </p:txBody>
      </p:sp>
      <p:sp>
        <p:nvSpPr>
          <p:cNvPr id="34" name="Oval 33"/>
          <p:cNvSpPr/>
          <p:nvPr/>
        </p:nvSpPr>
        <p:spPr>
          <a:xfrm>
            <a:off x="11370000" y="4146240"/>
            <a:ext cx="120000" cy="12000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0" y="3703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4805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YOLOv9 / v10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YOLO-World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51663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端到端 · 开放词汇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2286000"/>
            <a:ext cx="4114800" cy="50292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43800" y="23774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↓  本组聚焦：2023 年以来的 4 项代表性工作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PAPER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978408"/>
            <a:ext cx="1508760" cy="3657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0" y="103327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CNN · 单阶段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YOLOv9: Learning What You Want to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通过可编程梯度信息保留输入完整性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542032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Chien-Yao Wang, I-Hau Yeh, Hong-Yuan Mark Liao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ECCV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Programmable Gradient Information (PGI)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通过辅助可逆分支保留完整输入信息，缓解深层网络中的信息瓶颈，且不增加推理开销。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Generalized ELAN (GELAN)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基于梯度路径规划的轻量主干，仅用常规卷积即在参数效率上超过 depth-wise 主流方法。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从零训练即超越预训练 SOTA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 MS COCO 上从零训练即可超越大多数依赖大规模预训练的检测器。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611880"/>
            <a:ext cx="4572000" cy="23774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0" y="37947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416052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06640" y="4297680"/>
            <a:ext cx="4023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MS COCO test-dev</a:t>
            </a:r>
          </a:p>
          <a:p>
            <a:pPr algn="l">
              <a:lnSpc>
                <a:spcPct val="160000"/>
              </a:lnSpc>
            </a:pPr>
            <a:endParaRPr sz="1200" b="0">
              <a:solidFill>
                <a:srgbClr val="333D52"/>
              </a:solidFill>
              <a:latin typeface="Segoe UI"/>
              <a:ea typeface="微软雅黑"/>
              <a:cs typeface="微软雅黑"/>
            </a:endParaRP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YOLOv9-E：55.6 AP@0.5:0.95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参数 57.3M，FLOPs 189G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同精度下参数较 YOLOv8 减少约 16%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PAPER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978408"/>
            <a:ext cx="1508760" cy="3657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0" y="103327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CNN · 端到端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YOLOv10: Real-Time End-to-End Object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用一致的双重分配实现 NMS-free 端到端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542032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Ao Wang, Hui Chen, et al. (THU-MIG)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NeurIPS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Consistent Dual Assignments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训练阶段一对多分配获丰富监督，推理阶段一对一分配实现 NMS-free 端到端部署。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Holistic Efficiency-Accuracy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轻量分类头、空间-通道解耦下采样、Rank-guided block，全局协同优化效率与精度。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速度与参数全面占优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S 型号比 RT-DETR-R18 快 1.8×；B 型号比 YOLOv9-C 延迟降 46%、参数减 25%。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611880"/>
            <a:ext cx="4572000" cy="23774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0" y="37947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416052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06640" y="4297680"/>
            <a:ext cx="4023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MS COCO val</a:t>
            </a:r>
          </a:p>
          <a:p>
            <a:pPr algn="l">
              <a:lnSpc>
                <a:spcPct val="160000"/>
              </a:lnSpc>
            </a:pPr>
            <a:endParaRPr sz="1200" b="0">
              <a:solidFill>
                <a:srgbClr val="333D52"/>
              </a:solidFill>
              <a:latin typeface="Segoe UI"/>
              <a:ea typeface="微软雅黑"/>
              <a:cs typeface="微软雅黑"/>
            </a:endParaRP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YOLOv10-S：46.3 AP / 2.49 ms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YOLOv10-L：53.2 AP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无需 NMS 后处理，可端到端部署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PAPER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978408"/>
            <a:ext cx="1508760" cy="3657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0" y="103327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Transformer · 实时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DETRs Beat YOLOs on Real-time Object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首个进入实时区间的 Transformer 检测器（RT-DETR）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542032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Yian Zhao, Wenyu Lv, et al. (Baidu)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CVPR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Efficient Hybrid 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解耦尺度内自注意力与跨尺度融合，大幅降低多尺度编码的计算开销。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Uncertainty-minimal Query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用「分类与定位不确定性最低」的特征初始化 object query，加速收敛。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可调速推理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无需重新训练即可通过调整解码层数在精度与 FPS 间灵活权衡。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611880"/>
            <a:ext cx="4572000" cy="23774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0" y="37947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416052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06640" y="4297680"/>
            <a:ext cx="4023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MS COCO val · T4 GPU</a:t>
            </a:r>
          </a:p>
          <a:p>
            <a:pPr algn="l">
              <a:lnSpc>
                <a:spcPct val="160000"/>
              </a:lnSpc>
            </a:pPr>
            <a:endParaRPr sz="1200" b="0">
              <a:solidFill>
                <a:srgbClr val="333D52"/>
              </a:solidFill>
              <a:latin typeface="Segoe UI"/>
              <a:ea typeface="微软雅黑"/>
              <a:cs typeface="微软雅黑"/>
            </a:endParaRP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RT-DETR-R50：53.1 AP / 108 FPS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RT-DETR-R101：54.3 AP / 74 FPS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速度精度同步超过同期 YOLO 系列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PAPER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978408"/>
            <a:ext cx="1508760" cy="3657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0" y="103327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多模态 · 开放词汇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YOLO-World: Real-Time Open-Vocabulary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把 CLIP 思想引入 YOLO，实现实时开放词汇检测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542032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Tianheng Cheng, Lin Song, et al. (HUST × Tencent)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CVPR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RepVL-PAN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可重参数化的视觉-语言路径聚合网络，让文本嵌入与多尺度视觉特征深度交互。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Region-Text Contrastive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 CC3M、Objects365、GoldG 等大规模图文数据上做区域级对比学习预训练。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部署友好的文本嵌入离线化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推理时文本编码可离线缓存，几乎不增加在线推理负担。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611880"/>
            <a:ext cx="4572000" cy="23774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0" y="37947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416052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06640" y="4297680"/>
            <a:ext cx="4023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LVIS · V100</a:t>
            </a:r>
          </a:p>
          <a:p>
            <a:pPr algn="l">
              <a:lnSpc>
                <a:spcPct val="160000"/>
              </a:lnSpc>
            </a:pPr>
            <a:endParaRPr sz="1200" b="0">
              <a:solidFill>
                <a:srgbClr val="333D52"/>
              </a:solidFill>
              <a:latin typeface="Segoe UI"/>
              <a:ea typeface="微软雅黑"/>
              <a:cs typeface="微软雅黑"/>
            </a:endParaRP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35.4 AP / 52.0 FPS（zero-shot）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支持任意文本提示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可平滑迁移到下游分割任务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四篇文献综合对比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两条技术路线 × 两个时间断面，形成清晰演进矩阵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230428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0428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30428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端到端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0428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代表速度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304288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适用方向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651760"/>
            <a:ext cx="11091672" cy="0"/>
          </a:xfrm>
          <a:prstGeom prst="line">
            <a:avLst/>
          </a:prstGeom>
          <a:ln w="127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8529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YOLOv9 (ECCV'24)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5292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CNN 单阶段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529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PGI + GELAN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85292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否（需 NMS）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85292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852928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通用 · 精度优先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3756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35387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 (NeurIPS'24)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53872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CNN 单阶段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5387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双重分配 + 效率设计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53872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53872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S：2.49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538728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通用 · 实时部署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02336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42245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RT-DETR (CVPR'24)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22452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Transformer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2245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混合编码 + 不确定性查询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22452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22452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R50：108 FPS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224528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通用 · 实时高精度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470916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49103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YOLO-World (CVPR'24)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91032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多模态 (V+L)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9103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RepVL-PAN + 图文对比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91032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91032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52 FPS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910328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开放词汇 · 零样本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39496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→  四篇互相引用、对比明确，构成「CNN ↔ Transformer × 闭集 ↔ 开放」的演进矩阵。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我们选择 YOLOv10 作为深度分析对象 —— 创新点清晰、消融完整、官方代码可复现度高。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03 · YOLOV10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YOLOv10：动机与整体框架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 YOLOv8 / v9 已逼近精度天花板的前提下，瓶颈在哪里？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774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NMS 拖累端到端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训练阶段一对多分配带来重复预测，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推理必须依赖 NMS 后处理，难以端到端部署。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9456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3317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774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结构存在效率冗余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8036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分类头与回归头计算不平衡，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常规下采样与堆叠 block 存在显式冗余。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19456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23317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3774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精度–延迟两难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8036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提精度通常带来延迟和参数膨胀，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缺乏在两者之间协同优化的全局视角。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整体架构（沿用 YOLO 经典三段式，做了多处效率重写）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57200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658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6587" y="49377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Input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640×640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2686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26867" y="49377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Backbone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(CSP + Rank-Guided Block)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6714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67147" y="49377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Neck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(SCDown + PAN)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42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07427" y="49377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Dual Heads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(One-to-Many ‖ One-to-One)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4770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47707" y="49377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Predictions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(NMS-free)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03 · YOLOV10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YOLOv10：两大核心创新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Consistent Dual Assignments  ＋  Holistic Efficiency-Accuracy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440680" cy="393192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① 一致性双重分配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Consistent Dual Assignments  ·  解决「NMS 依赖」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127248"/>
            <a:ext cx="4709160" cy="0"/>
          </a:xfrm>
          <a:prstGeom prst="line">
            <a:avLst/>
          </a:prstGeom>
          <a:ln w="9525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29184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10128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训练分支：一对多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3931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保留 YOLO 经典的丰富监督信号，让每个目标被多个 anchor 学习，加快收敛。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70248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推理分支：一对一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9943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去除重复预测，单一最优匹配，省去 NMS 后处理。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30368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一致性匹配度量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5955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用同一度量对齐两支头的目标函数，避免「训练–推理鸿沟」。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194560"/>
            <a:ext cx="5440680" cy="393192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33172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② 效率–精度协同设计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6974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Holistic Design  ·  解决「结构冗余 + 精度延迟两难」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65392" y="3127248"/>
            <a:ext cx="4709160" cy="0"/>
          </a:xfrm>
          <a:prstGeom prst="line">
            <a:avLst/>
          </a:prstGeom>
          <a:ln w="9525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65392" y="324612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264408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轻量分类头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3557016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削减分类头参数与算力，对最终精度影响极小，但显著降延迟。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95935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97764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空间–通道解耦下采样 (SCDown)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270248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把传统下采样拆分为两步，保留信息同时降运算。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67258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469087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Rank-Guided Block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498348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按特征图的内在秩自适应选择更紧凑的 block。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538581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5404104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大核 + 部分自注意力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569671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在关键阶段引入大核卷积与轻量自注意力，提升精度而不显著增加延迟。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03 · YOLOV10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YOLOv10：实验结果与消融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MS COCO  ·  Tesla T4 GPU  ·  TensorRT FP16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与同规模检测器的对比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14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14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FLOPs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146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5146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AP@val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834640"/>
            <a:ext cx="6858000" cy="0"/>
          </a:xfrm>
          <a:prstGeom prst="line">
            <a:avLst/>
          </a:prstGeom>
          <a:ln w="127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926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YOLOv8-S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926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11.2M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26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28.6G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926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2.66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926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44.9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24612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3337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YOLOv9-S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33756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 7.2M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33756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26.7G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37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2.66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337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46.7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365760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3749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RT-DETR-R18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7490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20.0M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7490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60.0G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3749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4.58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749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46.5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06908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48640" y="4069080"/>
            <a:ext cx="6858000" cy="411480"/>
          </a:xfrm>
          <a:prstGeom prst="rect">
            <a:avLst/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4160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YOLOv10-S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160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 7.2M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160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21.6G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1605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2.49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1605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46.3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48056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4572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YOLOv8-L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5720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43.7M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45720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165.2G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45720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8.06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5720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52.9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89204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48640" y="4892040"/>
            <a:ext cx="6858000" cy="411480"/>
          </a:xfrm>
          <a:prstGeom prst="rect">
            <a:avLst/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4983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YOLOv10-L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9834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24.4M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49834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120.3G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4983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7.28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4983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53.2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" y="530352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680960" y="21031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三点关键结论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680960" y="246888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680960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27157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精度持平甚至略优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306324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YOLOv10-S 与 YOLOv9-S 精度相当，YOLOv10-L 反超 YOLOv8-L 0.3 AP。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794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381304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延迟显著下降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16052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YOLOv10-S 在 7.2M 参数下，延迟比 RT-DETR-R18 低 45%。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4892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491032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消融全面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525780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论文逐项消融了 NMS-free 分支、SCDown、Rank-block 等设计，因果链清晰。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04 · 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拟采用技术路线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 YOLOv10 官方实现基础上做迁移与对比实验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48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环境与基线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9631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搭建 PyTorch + CUDA 环境；clone YOLOv10 官方仓库；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用 MS COCO 子集跑通预训练权重的推理。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99232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535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数据集准备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0098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结合实际场景选定数据集（候选：交通标志 TT100K / 安全帽 SHWD / 医学息肉 Kvasir-SEG）。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划分 train / val / test = 7 / 1.5 / 1.5，转换 YOLO 标注格式。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5818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模型微调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1056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在自定义数据集上微调 YOLOv10-S / -M，调参（lr、batch、增广策略），追踪 mAP 曲线。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56285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对比与消融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103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横向对比 YOLOv8 / RT-DETR；纵向消融 NMS-free 分支与 SCDown 的贡献。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13248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4132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3675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交付物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150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完整训练日志、对比表、可视化 demo、需求分析与概要设计文档。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04 · 时间规划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项目时间规划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对齐课程第 11–18 周节奏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2468880"/>
            <a:ext cx="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7180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2468880"/>
            <a:ext cx="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2468880"/>
            <a:ext cx="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5780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2468880"/>
            <a:ext cx="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2468880"/>
            <a:ext cx="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4380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2468880"/>
            <a:ext cx="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2468880"/>
            <a:ext cx="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82980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0" y="2468880"/>
            <a:ext cx="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72800" y="2148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0" y="2468880"/>
            <a:ext cx="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103120" y="2560320"/>
            <a:ext cx="1123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0280" y="2560320"/>
            <a:ext cx="1123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调研选题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56032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035808"/>
            <a:ext cx="1123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3035808"/>
            <a:ext cx="1123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开题报告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03580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511296"/>
            <a:ext cx="2266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80" y="3511296"/>
            <a:ext cx="226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需求分析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511296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W13–14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3986784"/>
            <a:ext cx="2266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12280" y="3986784"/>
            <a:ext cx="226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环境搭建 / 跑通代码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86784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W15–16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4462272"/>
            <a:ext cx="2266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8280" y="4462272"/>
            <a:ext cx="226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模型调试 / 对比实验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46227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W17–18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4937760"/>
            <a:ext cx="1123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0" y="4937760"/>
            <a:ext cx="1123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总结汇报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93776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当前位置：W11  ·  本周完成调研与开题准备；下周（W12）汇报。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spc="600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谢 谢 聆 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3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Questions &amp; Discussion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663440"/>
            <a:ext cx="2130552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目标检测方向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1164</Words>
  <Application>Microsoft Office PowerPoint</Application>
  <PresentationFormat>宽屏</PresentationFormat>
  <Paragraphs>378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唐浩然</dc:creator>
  <cp:keywords/>
  <dc:description>generated using python-pptx</dc:description>
  <cp:lastModifiedBy>浩然 唐</cp:lastModifiedBy>
  <cp:revision>3</cp:revision>
  <dcterms:created xsi:type="dcterms:W3CDTF">2013-01-27T09:14:16Z</dcterms:created>
  <dcterms:modified xsi:type="dcterms:W3CDTF">2026-05-15T15:27:45Z</dcterms:modified>
  <cp:category/>
</cp:coreProperties>
</file>